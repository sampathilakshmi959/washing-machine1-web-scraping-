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80" r:id="rId3"/>
    <p:sldId id="299" r:id="rId4"/>
    <p:sldId id="261" r:id="rId5"/>
    <p:sldId id="281" r:id="rId6"/>
    <p:sldId id="263" r:id="rId7"/>
    <p:sldId id="265" r:id="rId8"/>
    <p:sldId id="264" r:id="rId9"/>
    <p:sldId id="266" r:id="rId10"/>
    <p:sldId id="282" r:id="rId11"/>
    <p:sldId id="267" r:id="rId12"/>
    <p:sldId id="286" r:id="rId13"/>
    <p:sldId id="287" r:id="rId14"/>
    <p:sldId id="291" r:id="rId15"/>
    <p:sldId id="294" r:id="rId16"/>
    <p:sldId id="295" r:id="rId17"/>
    <p:sldId id="276" r:id="rId18"/>
    <p:sldId id="297" r:id="rId19"/>
    <p:sldId id="298" r:id="rId20"/>
    <p:sldId id="25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374" autoAdjust="0"/>
  </p:normalViewPr>
  <p:slideViewPr>
    <p:cSldViewPr snapToGrid="0">
      <p:cViewPr varScale="1">
        <p:scale>
          <a:sx n="64" d="100"/>
          <a:sy n="64" d="100"/>
        </p:scale>
        <p:origin x="10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pathilakshmi959" TargetMode="External"/><Relationship Id="rId2" Type="http://schemas.openxmlformats.org/officeDocument/2006/relationships/hyperlink" Target="https://.linkedin.com/in/lakshmi-sampathi-6b10ba305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04644" y="4860435"/>
            <a:ext cx="9291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Washing Machine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A749-6D4D-68BF-7D83-9A1E95CC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330411"/>
          </a:xfrm>
        </p:spPr>
        <p:txBody>
          <a:bodyPr>
            <a:normAutofit lnSpcReduction="10000"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S. Lakshmi 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MCA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graduate passionate about Data Analytics and Visualization.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data-driven insights through real-world datasets.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Interested in web data extraction and business trend analysis.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sz="2400" dirty="0">
                <a:hlinkClick r:id="rId2"/>
              </a:rPr>
              <a:t>.linkedin.com/in/lakshmi-sampathi-6b10ba305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https://github.com/sampathilakshmi959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1AF9-E843-345D-DD83-C81BFAC1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Washing Machine </a:t>
            </a:r>
          </a:p>
        </p:txBody>
      </p:sp>
      <p:pic>
        <p:nvPicPr>
          <p:cNvPr id="6" name="Picture 2" descr="Top 10 Washing Machine Brands in India ...">
            <a:extLst>
              <a:ext uri="{FF2B5EF4-FFF2-40B4-BE49-F238E27FC236}">
                <a16:creationId xmlns:a16="http://schemas.microsoft.com/office/drawing/2014/main" id="{3B513916-A9CE-E747-5B2D-EC2CC1826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2300989"/>
            <a:ext cx="4663190" cy="359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mart Care Refrigeration in Rama Vihar ...">
            <a:extLst>
              <a:ext uri="{FF2B5EF4-FFF2-40B4-BE49-F238E27FC236}">
                <a16:creationId xmlns:a16="http://schemas.microsoft.com/office/drawing/2014/main" id="{6FE3CC72-B42B-0136-AABE-967612687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243" y="2128603"/>
            <a:ext cx="5186595" cy="359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4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08" y="1380941"/>
            <a:ext cx="8006490" cy="416056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A washing machine is a household appliance used to wash clothes automatically.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It saves time, water, and manual effort compared to traditional hand washing.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Modern machines perform washing, rinsing, and drying in one cycle.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There are two main types: </a:t>
            </a:r>
            <a:r>
              <a:rPr lang="en-US" sz="2000" b="1" dirty="0"/>
              <a:t>semi-automatic</a:t>
            </a:r>
            <a:r>
              <a:rPr lang="en-US" sz="2000" dirty="0"/>
              <a:t> and </a:t>
            </a:r>
            <a:r>
              <a:rPr lang="en-US" sz="2000" b="1" dirty="0"/>
              <a:t>fully automatic</a:t>
            </a:r>
            <a:r>
              <a:rPr lang="en-US" sz="2000" dirty="0"/>
              <a:t>.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6" name="Picture 4" descr="Washing Machine Repairs, washing ...">
            <a:extLst>
              <a:ext uri="{FF2B5EF4-FFF2-40B4-BE49-F238E27FC236}">
                <a16:creationId xmlns:a16="http://schemas.microsoft.com/office/drawing/2014/main" id="{D3209857-4D90-E931-FF87-281E7D12F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599" y="1380941"/>
            <a:ext cx="2635768" cy="3970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35027" y="1570008"/>
            <a:ext cx="99330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Many households still depend on manual washing, which is </a:t>
            </a:r>
            <a:r>
              <a:rPr lang="en-US" sz="2000" b="1" dirty="0"/>
              <a:t>time-consuming and labor-intensive</a:t>
            </a:r>
            <a:r>
              <a:rPr lang="en-US" sz="20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ack of awareness about </a:t>
            </a:r>
            <a:r>
              <a:rPr lang="en-US" sz="2000" b="1" dirty="0"/>
              <a:t>energy-efficient and water-saving machines</a:t>
            </a:r>
            <a:r>
              <a:rPr lang="en-US" sz="2000" dirty="0"/>
              <a:t> leads to higher utility costs.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Consumers face difficulty in choosing the right model due to </a:t>
            </a:r>
            <a:r>
              <a:rPr lang="en-US" sz="2000" b="1" dirty="0"/>
              <a:t>limited product understanding</a:t>
            </a:r>
            <a:r>
              <a:rPr lang="en-US" sz="2000" dirty="0"/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Traditional washing methods often result in </a:t>
            </a:r>
            <a:r>
              <a:rPr lang="en-US" sz="2000" b="1" dirty="0"/>
              <a:t>poor cleaning quality</a:t>
            </a:r>
            <a:r>
              <a:rPr lang="en-US" sz="2000" dirty="0"/>
              <a:t> and </a:t>
            </a:r>
            <a:r>
              <a:rPr lang="en-US" sz="2000" b="1" dirty="0"/>
              <a:t>fabric damage</a:t>
            </a:r>
            <a:r>
              <a:rPr lang="en-US" sz="2000" dirty="0"/>
              <a:t>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8638485" cy="2885059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To design a washing machine that reduces manual effort and saves time.</a:t>
            </a:r>
          </a:p>
          <a:p>
            <a:pPr algn="just"/>
            <a:r>
              <a:rPr lang="en-US" sz="2000" dirty="0"/>
              <a:t>To introduce energy-efficient and water-saving technologies.</a:t>
            </a:r>
          </a:p>
          <a:p>
            <a:pPr algn="just"/>
            <a:r>
              <a:rPr lang="en-US" sz="2000" dirty="0"/>
              <a:t>To make washing machines more affordable and user-friendly.</a:t>
            </a:r>
          </a:p>
          <a:p>
            <a:pPr algn="just"/>
            <a:r>
              <a:rPr lang="en-US" sz="2000" dirty="0"/>
              <a:t>To promote the use of smart washing solutions in every household.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83534" y="1294960"/>
            <a:ext cx="5187191" cy="5423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flipkart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official website was selected as the main data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browser developer tools (Inspect Element) to identify relevant HTML elements in match data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Requests libraries in Python to extract structured data from the web pages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 HTTP requests to automate the retrieval of multiple match records across seasons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consolidated scraped data for further analysis and visualization.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71803-2B42-48B2-2904-BCAD8723B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839" y="547285"/>
            <a:ext cx="5066676" cy="526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sp>
        <p:nvSpPr>
          <p:cNvPr id="5" name="AutoShape 4" descr="Generated image">
            <a:extLst>
              <a:ext uri="{FF2B5EF4-FFF2-40B4-BE49-F238E27FC236}">
                <a16:creationId xmlns:a16="http://schemas.microsoft.com/office/drawing/2014/main" id="{1A5F9EEC-2D1B-6FF4-DED4-39933C19C0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Generated image">
            <a:extLst>
              <a:ext uri="{FF2B5EF4-FFF2-40B4-BE49-F238E27FC236}">
                <a16:creationId xmlns:a16="http://schemas.microsoft.com/office/drawing/2014/main" id="{3B91096B-E7E8-1FA4-0E53-63124AC31D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92511" y="1125511"/>
            <a:ext cx="3612630" cy="260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14ED48-C5FD-F683-33F0-FF68A5049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888" y="1259778"/>
            <a:ext cx="8889168" cy="433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796859" y="973394"/>
            <a:ext cx="625378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Removed duplicate or irrelevant records from sensor and usage data.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Corrected inconsistent formats in date, time, and product model fields.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Filled missing values for features like price, </a:t>
            </a:r>
            <a:r>
              <a:rPr lang="en-US" sz="2000" dirty="0" err="1"/>
              <a:t>broed</a:t>
            </a:r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Original_price</a:t>
            </a:r>
            <a:r>
              <a:rPr lang="en-US" sz="2000" dirty="0"/>
              <a:t>, and cycle duration.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Standardized categorical data such as wash programs, machine types, and defect labels.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Verified data consistency to ensure accurate analysis and reporting.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C3A4DC-EAE9-E957-D638-135E36D1B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643" y="611558"/>
            <a:ext cx="4148226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696798" y="1088272"/>
            <a:ext cx="501194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-Variate Analysis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Most washing machines use </a:t>
            </a:r>
            <a:r>
              <a:rPr lang="en-US" sz="2000" b="1" dirty="0"/>
              <a:t>1.2–1.6 kWh power</a:t>
            </a:r>
            <a:r>
              <a:rPr lang="en-US" sz="2000" dirty="0"/>
              <a:t> and </a:t>
            </a:r>
            <a:r>
              <a:rPr lang="en-US" sz="2000" b="1" dirty="0"/>
              <a:t>40–60 L water</a:t>
            </a:r>
            <a:r>
              <a:rPr lang="en-US" sz="2000" dirty="0"/>
              <a:t> per wash.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Cycle durations</a:t>
            </a:r>
            <a:r>
              <a:rPr lang="en-US" sz="2000" dirty="0"/>
              <a:t> mostly range </a:t>
            </a:r>
            <a:r>
              <a:rPr lang="en-US" sz="2000"/>
              <a:t>from </a:t>
            </a:r>
            <a:r>
              <a:rPr lang="en-US" sz="2000" b="1"/>
              <a:t>20–30 </a:t>
            </a:r>
            <a:r>
              <a:rPr lang="en-US" sz="2000" b="1" dirty="0"/>
              <a:t>minutes</a:t>
            </a:r>
            <a:r>
              <a:rPr lang="en-US" sz="2000" dirty="0"/>
              <a:t>, showing efficient performance.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Correlation heatmap</a:t>
            </a:r>
            <a:r>
              <a:rPr lang="en-US" sz="2000" dirty="0"/>
              <a:t> shows a strong link between </a:t>
            </a:r>
            <a:r>
              <a:rPr lang="en-US" sz="2000" b="1" dirty="0"/>
              <a:t>power, water, and duration</a:t>
            </a:r>
            <a:r>
              <a:rPr lang="en-US" sz="2000" dirty="0"/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EFDCA5-0FCC-2F43-23D5-B39080EB3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756543"/>
            <a:ext cx="5399203" cy="475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734250" y="1310213"/>
            <a:ext cx="51913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shows that TOSHIBA has the highest count, followed closely by White and Siemens.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count plot reveals that Godrej has the highest count among the brands listed on the x-axis.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charts appear to be displaying different aspects of the same data, with the bar chart showing a more detailed breakdown of the counts for each brand.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9ED32-C0AF-1391-F4B2-CF7AAA62C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368" y="969357"/>
            <a:ext cx="5047184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DFE87-3B98-24A9-3C1B-2A43B4D9DD06}"/>
              </a:ext>
            </a:extLst>
          </p:cNvPr>
          <p:cNvSpPr txBox="1"/>
          <p:nvPr/>
        </p:nvSpPr>
        <p:spPr>
          <a:xfrm>
            <a:off x="667109" y="1474881"/>
            <a:ext cx="50119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shows the ratings of various brands, with some brands having higher ratings than others.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error bars indicate the margin of error for each brand's rating.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appears to be a bivariate analysis, examining the relationship between the brand and its rating.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761D8-2515-3EA0-FA09-F8D3DDC4B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292723"/>
            <a:ext cx="5731239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1B98C-36DD-1030-763D-766FCDBA9E17}"/>
              </a:ext>
            </a:extLst>
          </p:cNvPr>
          <p:cNvSpPr txBox="1"/>
          <p:nvPr/>
        </p:nvSpPr>
        <p:spPr>
          <a:xfrm>
            <a:off x="509666" y="1215101"/>
            <a:ext cx="558633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Distribution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ratings are categorized into distinct groups, with each group represented by a box plot. The ratings range from 2.8 to 5.0, indicating a diverse set of product ratings.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Price Range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original prices vary significantly, with a range of 10,000 to 80,000. This suggests that the products represented in the plot have a wide range of price points.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Two outliers are visible in the plot, one at a rating of 4.3 and another at a rating of 3.9. These outliers indicate that there are some products with significantly higher or lower prices compared to the rest of the products within their respective rating categories.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AEFAE-44EE-6563-02A6-2A4FCCA70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64499"/>
            <a:ext cx="5402943" cy="490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E2E40-2FB2-04D8-FD57-E214BC76FFF0}"/>
              </a:ext>
            </a:extLst>
          </p:cNvPr>
          <p:cNvSpPr txBox="1"/>
          <p:nvPr/>
        </p:nvSpPr>
        <p:spPr>
          <a:xfrm>
            <a:off x="722526" y="1391755"/>
            <a:ext cx="517664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plots reveal a positive correlation between the numerical variables and the brand, indicating that certain brands tend to have higher or lower values.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density plots show that the distribution of numerical values varies across brands, with some brands exhibiting a more skewed or bimodal distribution.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different colors for each brand allows for easy comparison and identification of patterns across the different brands.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3656F4-5C21-9797-F11C-6469B775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830" y="838255"/>
            <a:ext cx="5428891" cy="493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B56F-CE91-689B-D969-3B9BEF8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1CBF-5171-F58F-E6DC-193491D4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7AF65-3901-0BB9-4EB3-70E37ADAA8A0}"/>
              </a:ext>
            </a:extLst>
          </p:cNvPr>
          <p:cNvSpPr txBox="1"/>
          <p:nvPr/>
        </p:nvSpPr>
        <p:spPr>
          <a:xfrm>
            <a:off x="500421" y="1067904"/>
            <a:ext cx="617020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no_of_reviews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and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no_of_rating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are highly correlated (1.00), indicating a strong relationship between these two variables.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Correlation: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original_price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is moderately correlated with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processor_name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(0.20), suggesting a possible link between product pricing and processor quality.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Correlations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Other variables show weak correlations, indicating relative independence..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4DD39-8BCD-D323-C978-314237CEE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623" y="969356"/>
            <a:ext cx="5020956" cy="472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7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A0CE-8274-A1F5-3A9F-98D981522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41" y="100387"/>
            <a:ext cx="7763435" cy="89469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30632-BBBE-7E42-5C8B-2887796D6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4261" y="1618938"/>
            <a:ext cx="8676563" cy="3873361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Which wash programs use the most power and water?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Which machines have the most defects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long do different cycles take?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Which machines are most efficient?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How can we improve performance and reduce costs?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48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1243953"/>
            <a:ext cx="1082675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600" dirty="0"/>
              <a:t> </a:t>
            </a:r>
            <a:r>
              <a:rPr lang="en-US" sz="1600" b="1" dirty="0"/>
              <a:t>Consistent Usage Patterns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/>
              <a:t>Machine usage shows steady patterns across cycles, with peak usage times clearly identifiable.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600" b="1" dirty="0"/>
              <a:t> Impact of Machine Types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/>
              <a:t>Certain machine models consistently show higher efficiency and lower power/water consumption.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600" dirty="0"/>
              <a:t> </a:t>
            </a:r>
            <a:r>
              <a:rPr lang="en-US" sz="1600" b="1" dirty="0"/>
              <a:t>Performance of Popular Models</a:t>
            </a:r>
          </a:p>
          <a:p>
            <a:r>
              <a:rPr lang="en-US" sz="1600" dirty="0"/>
              <a:t>Top-performing machines maintain consistent cycle efficiency and minimal defects across multiple usage scenarios.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600" dirty="0"/>
              <a:t> </a:t>
            </a:r>
            <a:r>
              <a:rPr lang="en-US" sz="1600" b="1" dirty="0"/>
              <a:t>Influence of Usage Settings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/>
              <a:t>Settings</a:t>
            </a:r>
            <a:r>
              <a:rPr lang="en-US" sz="1600" dirty="0"/>
              <a:t> like “Quick Wash” or “Heavy Wash” significantly impact power and water consumption, guiding optimal usage recommendations.</a:t>
            </a:r>
          </a:p>
          <a:p>
            <a:endParaRPr lang="en-US" sz="1600" dirty="0"/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1600" dirty="0"/>
              <a:t> </a:t>
            </a:r>
            <a:r>
              <a:rPr lang="en-US" sz="1600" b="1" dirty="0"/>
              <a:t>Insights for Improvement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/>
              <a:t>Data-driven insights help optimize machine performance, reduce operational costs, and enhance customer satisfaction.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0" y="24713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Experience– Web Scraping &amp; Data Analysis: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608D9-1735-0142-AAF8-1110DAFC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7924" y="2114527"/>
            <a:ext cx="903142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Scraped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match data from multiple websites using Python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pandas).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(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name, price, description, ratings)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visualizations showing team performance and scoring trends.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end-to-end data workflow: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scraping → cleaning → analysis → visualization.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88F87-09D6-310A-575A-399768B2B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64110" y="1945560"/>
            <a:ext cx="574708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webpage structures across seasons.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or mismatched match details.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duplicate and unclean data.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Overcoming request blocks and slow scraping.</a:t>
            </a:r>
          </a:p>
          <a:p>
            <a:pPr marL="34290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most meaningful visuals for insights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,800+ Thank You Presentation Stock Photos, Pictures &amp; Royalty-Free Images  - iStock | Thank you for listening, Thank you sign, Thank you note">
            <a:extLst>
              <a:ext uri="{FF2B5EF4-FFF2-40B4-BE49-F238E27FC236}">
                <a16:creationId xmlns:a16="http://schemas.microsoft.com/office/drawing/2014/main" id="{20A35851-7728-0177-9AC4-06858B17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45" y="692727"/>
            <a:ext cx="997527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1071</Words>
  <Application>Microsoft Office PowerPoint</Application>
  <PresentationFormat>Widescreen</PresentationFormat>
  <Paragraphs>120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Times New Roman</vt:lpstr>
      <vt:lpstr>Calibri</vt:lpstr>
      <vt:lpstr>Arial</vt:lpstr>
      <vt:lpstr>Office Theme</vt:lpstr>
      <vt:lpstr>PowerPoint Presentation</vt:lpstr>
      <vt:lpstr>About Us:</vt:lpstr>
      <vt:lpstr>Washing Machine 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Key Business Questions</vt:lpstr>
      <vt:lpstr>Conclusion: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sampathi lakshmi</cp:lastModifiedBy>
  <cp:revision>45</cp:revision>
  <dcterms:created xsi:type="dcterms:W3CDTF">2021-02-16T05:19:01Z</dcterms:created>
  <dcterms:modified xsi:type="dcterms:W3CDTF">2025-11-07T16:51:47Z</dcterms:modified>
</cp:coreProperties>
</file>